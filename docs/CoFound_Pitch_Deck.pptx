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A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2194560"/>
            <a:ext cx="10698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CoFound.th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731520" y="338328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Co-Founder &amp; Investor Matching Platform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31520" y="393192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B8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the AI Startup Era — Starting in Thailand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31520" y="5120640"/>
            <a:ext cx="914400" cy="54864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525780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 Deck  |  May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Thai founders face two unsolved needs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440680" cy="4114800"/>
          </a:xfrm>
          <a:prstGeom prst="rect">
            <a:avLst/>
          </a:prstGeom>
          <a:solidFill>
            <a:srgbClr val="F8F9FA"/>
          </a:solidFill>
          <a:ln w="12700">
            <a:solidFill>
              <a:srgbClr val="F8F9F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828800"/>
            <a:ext cx="91440" cy="41148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148840"/>
            <a:ext cx="640080" cy="640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219456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a Co-Founder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868680" y="3017520"/>
            <a:ext cx="49377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founders rely on small personal networks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Facebook groups give low-quality random matches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platforms have no Thai user base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structured way to find skill-complementary partners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172200" y="1828800"/>
            <a:ext cx="5440680" cy="4114800"/>
          </a:xfrm>
          <a:prstGeom prst="rect">
            <a:avLst/>
          </a:prstGeom>
          <a:solidFill>
            <a:srgbClr val="F8F9FA"/>
          </a:solidFill>
          <a:ln w="12700">
            <a:solidFill>
              <a:srgbClr val="F8F9F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172200" y="1828800"/>
            <a:ext cx="91440" cy="411480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2148840"/>
            <a:ext cx="640080" cy="6400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69480" y="219456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Connecting to Investors</a:t>
            </a:r>
            <a:endParaRPr lang="en-US" sz="2200" dirty="0"/>
          </a:p>
        </p:txBody>
      </p:sp>
      <p:sp>
        <p:nvSpPr>
          <p:cNvPr id="13" name="Text 9"/>
          <p:cNvSpPr/>
          <p:nvPr/>
        </p:nvSpPr>
        <p:spPr>
          <a:xfrm>
            <a:off x="6492240" y="3017520"/>
            <a:ext cx="49377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networks are closed and gatekept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 emails to VCs almost never get replies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platform shows active Thai startups raising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Unfair advantage for founders with existing networks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Now?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trends converging — this moment won't repeat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40680" cy="214884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057400"/>
            <a:ext cx="777240" cy="77724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219456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0312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lowers startup cost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828800" y="2560320"/>
            <a:ext cx="4023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or 2-person teams can now build what required 10 people. More startups will form than ever.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172200" y="1691640"/>
            <a:ext cx="5440680" cy="214884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492240" y="2057400"/>
            <a:ext cx="777240" cy="7772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2194560"/>
            <a:ext cx="502920" cy="5029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52360" y="210312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Thailand 4.0 push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7452360" y="2560320"/>
            <a:ext cx="4023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grants, BOI incentives, and digital economy programs all favor startups today.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48640" y="4023360"/>
            <a:ext cx="5440680" cy="214884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68680" y="4389120"/>
            <a:ext cx="777240" cy="7772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4526280"/>
            <a:ext cx="502920" cy="5029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4348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work normalized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1828800" y="4892040"/>
            <a:ext cx="4023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Founders no longer limited to their city — co-founder search is finally a national/regional game.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172200" y="4023360"/>
            <a:ext cx="5440680" cy="214884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492240" y="4389120"/>
            <a:ext cx="777240" cy="77724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9400" y="4526280"/>
            <a:ext cx="502920" cy="5029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52360" y="44348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Thai-specific platform</a:t>
            </a:r>
            <a:endParaRPr lang="en-US" sz="1800" dirty="0"/>
          </a:p>
        </p:txBody>
      </p:sp>
      <p:sp>
        <p:nvSpPr>
          <p:cNvPr id="23" name="Text 17"/>
          <p:cNvSpPr/>
          <p:nvPr/>
        </p:nvSpPr>
        <p:spPr>
          <a:xfrm>
            <a:off x="7452360" y="4892040"/>
            <a:ext cx="4023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CoFoundersLab and AngelList serve global users — no local solution exists. The market is open.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community-driven platform serving the entire startup journey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611880" cy="4480560"/>
          </a:xfrm>
          <a:prstGeom prst="rect">
            <a:avLst/>
          </a:prstGeom>
          <a:solidFill>
            <a:srgbClr val="FFFFFF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737360"/>
            <a:ext cx="3611880" cy="10058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8745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214884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Co-Founder Matching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3017520"/>
            <a:ext cx="310896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profile-based matches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&amp; skill filters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In-platform messaging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community forum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43400" y="1737360"/>
            <a:ext cx="3611880" cy="4480560"/>
          </a:xfrm>
          <a:prstGeom prst="rect">
            <a:avLst/>
          </a:prstGeom>
          <a:solidFill>
            <a:srgbClr val="FFFFFF"/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43400" y="1737360"/>
            <a:ext cx="3611880" cy="100584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0" y="18745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0" y="214884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Introductions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617720" y="3017520"/>
            <a:ext cx="310896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investor profiles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Startup introduction requests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call integration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fee model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138160" y="1737360"/>
            <a:ext cx="3611880" cy="4480560"/>
          </a:xfrm>
          <a:prstGeom prst="rect">
            <a:avLst/>
          </a:prstGeom>
          <a:solidFill>
            <a:srgbClr val="FFFFFF"/>
          </a:solidFill>
          <a:ln w="25400">
            <a:solidFill>
              <a:srgbClr val="F9616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138160" y="1737360"/>
            <a:ext cx="3611880" cy="100584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66760" y="18745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366760" y="214884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Startup Hub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412480" y="3017520"/>
            <a:ext cx="310896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template library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board for hires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pitch events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content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revenue streams — startups pay, investors don't</a:t>
            </a:r>
            <a:endParaRPr lang="en-US" sz="1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731520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2377440"/>
                <a:gridCol w="12801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 Stream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Premium Subscription (Founders)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฿299–499 / month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Featured Profile Boost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฿1,500 / month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Investor Introduction Fee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฿500–1,000 / call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Success Fee (deal close)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1–2% of raise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Pitch Night &amp; Event Tickets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฿200–500 / ticket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Corporate Partnerships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฿500K+ / year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Job Board Listings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฿1,000–3,000 / post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8183880" y="1691640"/>
            <a:ext cx="3429000" cy="4297680"/>
          </a:xfrm>
          <a:prstGeom prst="rect">
            <a:avLst/>
          </a:prstGeom>
          <a:solidFill>
            <a:srgbClr val="F8F9FA"/>
          </a:solidFill>
          <a:ln w="12700">
            <a:solidFill>
              <a:srgbClr val="F8F9F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183880" y="1691640"/>
            <a:ext cx="3429000" cy="73152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66760" y="1920240"/>
            <a:ext cx="502920" cy="5029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961120" y="19202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Principles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8366760" y="2606040"/>
            <a:ext cx="315468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Investors never pay — VIP treatment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 upfront, not just on success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fees low so cheating isn't worth it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first — monetize at scale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&amp; Competition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our local focus beats global generalists</a:t>
            </a:r>
            <a:endParaRPr lang="en-US" sz="1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642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114800"/>
                <a:gridCol w="45720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Competitor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Their Focus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Our Edge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CoFoundersLab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Global co-founder matching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Thai language + local network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AngelList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Investor &amp; deal flow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Earlier-stage, local feel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Glints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Talent recruitment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Co-founders, not employees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e27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Startup media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Dedicated matching tool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LinkedIn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General networking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Purpose-built for founders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029200"/>
            <a:ext cx="11064240" cy="13716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77240" y="51206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Unfair Advantage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77240" y="55321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founder  •  Co-founder already in place  •  Content creator on team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network + Thai language  •  Lean cost structure  •  Move-fast culture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Go-To-Market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recruitment + content-led growth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61188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103120"/>
            <a:ext cx="822960" cy="82296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148840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1737360" y="22402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100 Users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3200400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LinkedIn DMs, Techsauce events, Thai founder Facebook groups. Founding members get lifetime premium.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43400" y="1828800"/>
            <a:ext cx="361188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17720" y="2103120"/>
            <a:ext cx="822960" cy="82296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17720" y="2148840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5532120" y="22402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Engine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617720" y="3200400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Co-founder publishes daily on TikTok, LinkedIn, YouTube. Build-in-public strategy — free distribution.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138160" y="1828800"/>
            <a:ext cx="361188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12480" y="2103120"/>
            <a:ext cx="822960" cy="82296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12480" y="2148840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9326880" y="22402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Amplification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412480" y="3200400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organic proves out, scale with Facebook, IG, TikTok ads targeting Thai entrepreneurs 22–40.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5029200"/>
            <a:ext cx="11064240" cy="1371600"/>
          </a:xfrm>
          <a:prstGeom prst="rect">
            <a:avLst/>
          </a:prstGeom>
          <a:solidFill>
            <a:srgbClr val="F8F9FA"/>
          </a:solidFill>
          <a:ln w="12700">
            <a:solidFill>
              <a:srgbClr val="F8F9F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51663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 Target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77240" y="553212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1,500+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777240" y="60350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Users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520440" y="553212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50+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3520440" y="60350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Investors Onboarded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263640" y="553212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฿55K+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6263640" y="60350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Revenue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006840" y="553212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10+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9006840" y="60350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Funded Deals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Lean budget — targeting grants &amp; accelerators first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029200" cy="4572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9659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Raise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2331720"/>
            <a:ext cx="457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฿150,000</a:t>
            </a:r>
            <a:endParaRPr lang="en-US" sz="8000" dirty="0"/>
          </a:p>
        </p:txBody>
      </p:sp>
      <p:sp>
        <p:nvSpPr>
          <p:cNvPr id="7" name="Text 5"/>
          <p:cNvSpPr/>
          <p:nvPr/>
        </p:nvSpPr>
        <p:spPr>
          <a:xfrm>
            <a:off x="777240" y="35661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B8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 $4,200 USD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777240" y="4114800"/>
            <a:ext cx="914400" cy="4572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4297680"/>
            <a:ext cx="4572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 6 months of operation including company registration, legal templates, marketing, and operational buffer.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852160" y="1691640"/>
          <a:ext cx="5760720" cy="914400"/>
        </p:xfrm>
        <a:graphic>
          <a:graphicData uri="http://schemas.openxmlformats.org/drawingml/2006/table">
            <a:tbl>
              <a:tblPr/>
              <a:tblGrid>
                <a:gridCol w="3931920"/>
                <a:gridCol w="18288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Item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Amount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Hosting &amp; Domain (Coolify, 1yr)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฿5,000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Company Registration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฿25,000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Legal Templates (one-time)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฿15,000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Marketing (paid ads)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฿60,000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Content Tools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฿2,000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Operational Buffer (3mo)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฿30,000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Contingency (15%)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฿20,000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฿157,000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Funding Sources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Targeting non-dilutive capital first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611880" cy="21031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783080"/>
            <a:ext cx="361188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0116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 Grant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77240" y="24688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77240" y="28803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฿500K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77240" y="3383280"/>
            <a:ext cx="1371600" cy="2926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338328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Now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343400" y="1783080"/>
            <a:ext cx="3611880" cy="21031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43400" y="1783080"/>
            <a:ext cx="361188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0" y="20116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NIA Innovation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572000" y="24688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0" y="28803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฿300K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572000" y="3383280"/>
            <a:ext cx="1371600" cy="2926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0" y="338328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Now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138160" y="1783080"/>
            <a:ext cx="3611880" cy="21031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138160" y="1783080"/>
            <a:ext cx="3611880" cy="7315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66760" y="20116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Incube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366760" y="24688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Accelerator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366760" y="28803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Equity + Mentorship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366760" y="3383280"/>
            <a:ext cx="1371600" cy="29260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366760" y="338328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Now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48640" y="4069080"/>
            <a:ext cx="3611880" cy="21031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8640" y="4069080"/>
            <a:ext cx="3611880" cy="7315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7240" y="42976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AIS The StartUp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777240" y="47548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Accelerator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77240" y="51663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Equity + Network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777240" y="5669280"/>
            <a:ext cx="1371600" cy="29260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77240" y="566928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Now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343400" y="4069080"/>
            <a:ext cx="3611880" cy="21031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343400" y="4069080"/>
            <a:ext cx="361188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0" y="42976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Activate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4572000" y="47548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Credits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572000" y="51663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$100K credits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4572000" y="5669280"/>
            <a:ext cx="1371600" cy="2926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0" y="566928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Win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8138160" y="4069080"/>
            <a:ext cx="3611880" cy="21031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138160" y="4069080"/>
            <a:ext cx="361188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366760" y="42976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for Startups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8366760" y="47548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Credits + Mentor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8366760" y="51663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credits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8366760" y="5669280"/>
            <a:ext cx="1371600" cy="2926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366760" y="566928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Win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12-Month Roadmap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MVP to regional expansion plan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31520" y="3840480"/>
            <a:ext cx="10698480" cy="36576"/>
          </a:xfrm>
          <a:prstGeom prst="rect">
            <a:avLst/>
          </a:prstGeom>
          <a:solidFill>
            <a:srgbClr val="CBD5E0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783080"/>
            <a:ext cx="2651760" cy="1828800"/>
          </a:xfrm>
          <a:prstGeom prst="rect">
            <a:avLst/>
          </a:prstGeom>
          <a:solidFill>
            <a:srgbClr val="FFFFFF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783080"/>
            <a:ext cx="2651760" cy="4572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7830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M1–3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23317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&amp; Validate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77240" y="2788920"/>
            <a:ext cx="2423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company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launch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100 users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828800" y="3703320"/>
            <a:ext cx="274320" cy="274320"/>
          </a:xfrm>
          <a:prstGeom prst="ellipse">
            <a:avLst/>
          </a:prstGeom>
          <a:solidFill>
            <a:srgbClr val="028090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74720" y="1783080"/>
            <a:ext cx="2651760" cy="18288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74720" y="1783080"/>
            <a:ext cx="2651760" cy="4572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74720" y="17830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M4–6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566160" y="23317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&amp; Grow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611880" y="2788920"/>
            <a:ext cx="2423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launch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event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users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63440" y="3703320"/>
            <a:ext cx="274320" cy="274320"/>
          </a:xfrm>
          <a:prstGeom prst="ellipse">
            <a:avLst/>
          </a:prstGeom>
          <a:solidFill>
            <a:srgbClr val="00A896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09360" y="1783080"/>
            <a:ext cx="2651760" cy="1828800"/>
          </a:xfrm>
          <a:prstGeom prst="rect">
            <a:avLst/>
          </a:prstGeom>
          <a:solidFill>
            <a:srgbClr val="FFFFFF"/>
          </a:solidFill>
          <a:ln w="25400">
            <a:solidFill>
              <a:srgbClr val="02C39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09360" y="1783080"/>
            <a:ext cx="2651760" cy="4572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09360" y="17830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M7–9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00800" y="23317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Investors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446520" y="2788920"/>
            <a:ext cx="2423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20+ investors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 fees live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deals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498080" y="3703320"/>
            <a:ext cx="274320" cy="274320"/>
          </a:xfrm>
          <a:prstGeom prst="ellipse">
            <a:avLst/>
          </a:prstGeom>
          <a:solidFill>
            <a:srgbClr val="02C39A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144000" y="1783080"/>
            <a:ext cx="2651760" cy="1828800"/>
          </a:xfrm>
          <a:prstGeom prst="rect">
            <a:avLst/>
          </a:prstGeom>
          <a:solidFill>
            <a:srgbClr val="FFFFFF"/>
          </a:solidFill>
          <a:ln w="25400">
            <a:solidFill>
              <a:srgbClr val="F9616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144000" y="1783080"/>
            <a:ext cx="2651760" cy="45720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0" y="17830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M10–12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235440" y="23317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&amp; Expand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281160" y="2788920"/>
            <a:ext cx="2423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1,500+ users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&amp; jobs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 expansion plan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0332720" y="3703320"/>
            <a:ext cx="274320" cy="274320"/>
          </a:xfrm>
          <a:prstGeom prst="ellipse">
            <a:avLst/>
          </a:prstGeom>
          <a:solidFill>
            <a:srgbClr val="F96167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48640" y="4572000"/>
            <a:ext cx="11064240" cy="1828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3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4983480"/>
            <a:ext cx="1005840" cy="1005840"/>
          </a:xfrm>
          <a:prstGeom prst="rect">
            <a:avLst/>
          </a:prstGeom>
        </p:spPr>
      </p:pic>
      <p:sp>
        <p:nvSpPr>
          <p:cNvPr id="31" name="Text 28"/>
          <p:cNvSpPr/>
          <p:nvPr/>
        </p:nvSpPr>
        <p:spPr>
          <a:xfrm>
            <a:off x="2194560" y="48006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2–3: Regional Expansion</a:t>
            </a:r>
            <a:endParaRPr lang="en-US" sz="2200" dirty="0"/>
          </a:p>
        </p:txBody>
      </p:sp>
      <p:sp>
        <p:nvSpPr>
          <p:cNvPr id="32" name="Text 29"/>
          <p:cNvSpPr/>
          <p:nvPr/>
        </p:nvSpPr>
        <p:spPr>
          <a:xfrm>
            <a:off x="2194560" y="534924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Thailand → Vietnam → Indonesia → Philippines. Build the playbook locally, replicate regionally. Become the platform for SEA's AI-era startup boom.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Will Work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right team, at the right time, with the right model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611880" cy="214884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103120"/>
            <a:ext cx="777240" cy="77724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24028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21488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Team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22960" y="301752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founder who builds + co-founder dedicated to content. Move fast, ship daily.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43400" y="1783080"/>
            <a:ext cx="3611880" cy="214884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617720" y="2103120"/>
            <a:ext cx="777240" cy="77724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240280"/>
            <a:ext cx="502920" cy="5029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577840" y="21488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Timing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4617720" y="301752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revolution is creating an explosion of new startups across SEA. Demand is growing now.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138160" y="1783080"/>
            <a:ext cx="3611880" cy="214884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412480" y="2103120"/>
            <a:ext cx="777240" cy="77724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9640" y="2240280"/>
            <a:ext cx="502920" cy="5029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372600" y="21488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Cost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8412480" y="301752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Lean ฿150K budget. Can survive long enough to win. No bloated burn rate.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548640" y="4114800"/>
            <a:ext cx="3611880" cy="214884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822960" y="4434840"/>
            <a:ext cx="777240" cy="77724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4572000"/>
            <a:ext cx="502920" cy="5029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783080" y="44805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Moat</a:t>
            </a:r>
            <a:endParaRPr lang="en-US" sz="1800" dirty="0"/>
          </a:p>
        </p:txBody>
      </p:sp>
      <p:sp>
        <p:nvSpPr>
          <p:cNvPr id="23" name="Text 17"/>
          <p:cNvSpPr/>
          <p:nvPr/>
        </p:nvSpPr>
        <p:spPr>
          <a:xfrm>
            <a:off x="822960" y="534924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network + Thai language + community trust. Hard for global platforms to replicate.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4343400" y="4114800"/>
            <a:ext cx="3611880" cy="214884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4617720" y="4434840"/>
            <a:ext cx="777240" cy="77724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0" y="4572000"/>
            <a:ext cx="502920" cy="50292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577840" y="44805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Model</a:t>
            </a:r>
            <a:endParaRPr lang="en-US" sz="1800" dirty="0"/>
          </a:p>
        </p:txBody>
      </p:sp>
      <p:sp>
        <p:nvSpPr>
          <p:cNvPr id="28" name="Text 21"/>
          <p:cNvSpPr/>
          <p:nvPr/>
        </p:nvSpPr>
        <p:spPr>
          <a:xfrm>
            <a:off x="4617720" y="534924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Community-first, not transaction-first. Users stay through their whole startup journey.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8138160" y="4114800"/>
            <a:ext cx="3611880" cy="214884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8412480" y="4434840"/>
            <a:ext cx="777240" cy="77724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49640" y="4572000"/>
            <a:ext cx="502920" cy="50292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372600" y="44805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Vision</a:t>
            </a:r>
            <a:endParaRPr lang="en-US" sz="1800" dirty="0"/>
          </a:p>
        </p:txBody>
      </p:sp>
      <p:sp>
        <p:nvSpPr>
          <p:cNvPr id="33" name="Text 25"/>
          <p:cNvSpPr/>
          <p:nvPr/>
        </p:nvSpPr>
        <p:spPr>
          <a:xfrm>
            <a:off x="8412480" y="534924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just matching. The home base for every AI-era startup in SEA.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A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2743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828800"/>
            <a:ext cx="10698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Build It.</a:t>
            </a:r>
            <a:endParaRPr lang="en-US" sz="8000" dirty="0"/>
          </a:p>
        </p:txBody>
      </p:sp>
      <p:sp>
        <p:nvSpPr>
          <p:cNvPr id="4" name="Shape 2"/>
          <p:cNvSpPr/>
          <p:nvPr/>
        </p:nvSpPr>
        <p:spPr>
          <a:xfrm>
            <a:off x="731520" y="3200400"/>
            <a:ext cx="914400" cy="54864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338328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CoFound.th — The platform for Thailand's next generation of founders.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411480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by founders, for founders.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 |  hello@cofound.th  |  Bangkok, Thailand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CoFound.th Pitch Deck</dc:title>
  <dc:subject>PptxGenJS Presentation</dc:subject>
  <dc:creator>PptxGenJS</dc:creator>
  <cp:lastModifiedBy>PptxGenJS</cp:lastModifiedBy>
  <cp:revision>1</cp:revision>
  <dcterms:created xsi:type="dcterms:W3CDTF">2026-05-16T10:19:57Z</dcterms:created>
  <dcterms:modified xsi:type="dcterms:W3CDTF">2026-05-16T10:19:57Z</dcterms:modified>
</cp:coreProperties>
</file>